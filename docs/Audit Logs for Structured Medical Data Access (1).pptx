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a structured access-audit system for medical data that ties every access or modification to the patient's consent context and the doctor–patient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Objectives: three pillars of auditability — structured logs, consent context, and the doctor–patient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audit event in JSON: event type, the actor and their treating relationship, consent status and scope, and purpose of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flow runs left to right: event definitions, then the entry point, then the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Jest tests pass, covering logging, relationship context, consent status and consent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system is ready for real integration.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84960"/>
            <a:ext cx="10566400" cy="446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84960"/>
            <a:ext cx="10566400" cy="446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1B33"/>
              </a:gs>
              <a:gs pos="100000">
                <a:srgbClr val="12305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6654800"/>
            <a:ext cx="12192000" cy="20320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99136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2258060"/>
            <a:ext cx="7116064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 for Access to Structured Medical Data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12800" y="3634740"/>
            <a:ext cx="7116064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B8C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the latest security and governance standards to track access and modification, linked to patient consent and the doctor–patient relationship</a:t>
            </a:r>
            <a:endParaRPr lang="en-US" sz="1800" dirty="0"/>
          </a:p>
        </p:txBody>
      </p:sp>
      <p:pic>
        <p:nvPicPr>
          <p:cNvPr id="7" name="Image 0" descr="Medical file ic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58200" y="1676400"/>
            <a:ext cx="2286000" cy="279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13950" y="3740150"/>
            <a:ext cx="1079500" cy="10795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 w="63500">
            <a:solidFill>
              <a:srgbClr val="0B1B33"/>
            </a:solidFill>
            <a:prstDash val="solid"/>
          </a:ln>
        </p:spPr>
      </p:sp>
      <p:pic>
        <p:nvPicPr>
          <p:cNvPr id="9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99700" y="40259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System Objectives (Auditability)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8176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traditional monitoring into smart, structured logs that provide full transparency.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9150" y="1997710"/>
            <a:ext cx="3340100" cy="3837940"/>
          </a:xfrm>
          <a:prstGeom prst="roundRect">
            <a:avLst>
              <a:gd name="adj" fmla="val 4373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792" y="2308352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E4EEFC"/>
          </a:solidFill>
          <a:ln/>
        </p:spPr>
      </p:sp>
      <p:pic>
        <p:nvPicPr>
          <p:cNvPr id="6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56792" y="2435352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792" y="2994152"/>
            <a:ext cx="280038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Logs (JSON)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29792" y="3730752"/>
            <a:ext cx="280038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data that systems can analyze easily.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25950" y="1997710"/>
            <a:ext cx="3340100" cy="3837940"/>
          </a:xfrm>
          <a:prstGeom prst="roundRect">
            <a:avLst>
              <a:gd name="adj" fmla="val 4373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6592" y="2308352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E4EEFC"/>
          </a:solidFill>
          <a:ln/>
        </p:spPr>
      </p:sp>
      <p:pic>
        <p:nvPicPr>
          <p:cNvPr id="11" name="Image 1" descr="Verifi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63592" y="2435352"/>
            <a:ext cx="304800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2994152"/>
            <a:ext cx="280038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Context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36592" y="3425952"/>
            <a:ext cx="2800381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patient authorization and the validity of the access period.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32750" y="1997710"/>
            <a:ext cx="3340100" cy="3837940"/>
          </a:xfrm>
          <a:prstGeom prst="roundRect">
            <a:avLst>
              <a:gd name="adj" fmla="val 4373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43392" y="2308352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E4EEFC"/>
          </a:solidFill>
          <a:ln/>
        </p:spPr>
      </p:sp>
      <p:pic>
        <p:nvPicPr>
          <p:cNvPr id="16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70392" y="2435352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3392" y="2994152"/>
            <a:ext cx="280038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Doctor–Patient Relationship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43392" y="3730752"/>
            <a:ext cx="2800381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nature of the treatment relationship and the care session.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Event Schema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34159"/>
            <a:ext cx="5359400" cy="4307840"/>
          </a:xfrm>
          <a:prstGeom prst="roundRect">
            <a:avLst>
              <a:gd name="adj" fmla="val 3538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88159"/>
            <a:ext cx="4996942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70" spc="100" kern="0" dirty="0">
                <a:solidFill>
                  <a:srgbClr val="8B98A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JSON</a:t>
            </a:r>
            <a:endParaRPr lang="en-US" sz="1170" dirty="0"/>
          </a:p>
        </p:txBody>
      </p:sp>
      <p:sp>
        <p:nvSpPr>
          <p:cNvPr id="5" name="Text 3"/>
          <p:cNvSpPr/>
          <p:nvPr/>
        </p:nvSpPr>
        <p:spPr>
          <a:xfrm>
            <a:off x="1066800" y="2073656"/>
            <a:ext cx="4996942" cy="27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72" dirty="0"/>
          </a:p>
        </p:txBody>
      </p:sp>
      <p:sp>
        <p:nvSpPr>
          <p:cNvPr id="6" name="Text 4"/>
          <p:cNvSpPr/>
          <p:nvPr/>
        </p:nvSpPr>
        <p:spPr>
          <a:xfrm>
            <a:off x="1270000" y="2370741"/>
            <a:ext cx="4787646" cy="271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79C0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"eventType"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</a:t>
            </a:r>
            <a:r>
              <a:rPr lang="en-US" sz="1272" dirty="0">
                <a:solidFill>
                  <a:srgbClr val="A5D6A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"medical_record.accessed"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</a:t>
            </a:r>
            <a:endParaRPr lang="en-US" sz="1272" dirty="0"/>
          </a:p>
        </p:txBody>
      </p:sp>
      <p:sp>
        <p:nvSpPr>
          <p:cNvPr id="7" name="Text 5"/>
          <p:cNvSpPr/>
          <p:nvPr/>
        </p:nvSpPr>
        <p:spPr>
          <a:xfrm>
            <a:off x="1270000" y="2667857"/>
            <a:ext cx="4787646" cy="27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79C0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"actor"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{</a:t>
            </a:r>
            <a:endParaRPr lang="en-US" sz="1272" dirty="0"/>
          </a:p>
        </p:txBody>
      </p:sp>
      <p:sp>
        <p:nvSpPr>
          <p:cNvPr id="8" name="Text 6"/>
          <p:cNvSpPr/>
          <p:nvPr/>
        </p:nvSpPr>
        <p:spPr>
          <a:xfrm>
            <a:off x="1473200" y="2964942"/>
            <a:ext cx="4578350" cy="271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79C0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"role"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</a:t>
            </a:r>
            <a:r>
              <a:rPr lang="en-US" sz="1272" dirty="0">
                <a:solidFill>
                  <a:srgbClr val="A5D6A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"physician"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</a:t>
            </a:r>
            <a:endParaRPr lang="en-US" sz="1272" dirty="0"/>
          </a:p>
        </p:txBody>
      </p:sp>
      <p:sp>
        <p:nvSpPr>
          <p:cNvPr id="9" name="Text 7"/>
          <p:cNvSpPr/>
          <p:nvPr/>
        </p:nvSpPr>
        <p:spPr>
          <a:xfrm>
            <a:off x="1473200" y="3262058"/>
            <a:ext cx="4578350" cy="27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79C0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"relationship"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</a:t>
            </a:r>
            <a:r>
              <a:rPr lang="en-US" sz="1272" dirty="0">
                <a:solidFill>
                  <a:srgbClr val="A5D6A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"treating_clinician"</a:t>
            </a:r>
            <a:endParaRPr lang="en-US" sz="1272" dirty="0"/>
          </a:p>
        </p:txBody>
      </p:sp>
      <p:sp>
        <p:nvSpPr>
          <p:cNvPr id="10" name="Text 8"/>
          <p:cNvSpPr/>
          <p:nvPr/>
        </p:nvSpPr>
        <p:spPr>
          <a:xfrm>
            <a:off x="1270000" y="3559142"/>
            <a:ext cx="4787646" cy="271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},</a:t>
            </a:r>
            <a:endParaRPr lang="en-US" sz="1272" dirty="0"/>
          </a:p>
        </p:txBody>
      </p:sp>
      <p:sp>
        <p:nvSpPr>
          <p:cNvPr id="11" name="Text 9"/>
          <p:cNvSpPr/>
          <p:nvPr/>
        </p:nvSpPr>
        <p:spPr>
          <a:xfrm>
            <a:off x="1270000" y="3856259"/>
            <a:ext cx="4787646" cy="27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79C0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"consent"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{</a:t>
            </a:r>
            <a:endParaRPr lang="en-US" sz="1272" dirty="0"/>
          </a:p>
        </p:txBody>
      </p:sp>
      <p:sp>
        <p:nvSpPr>
          <p:cNvPr id="12" name="Text 10"/>
          <p:cNvSpPr/>
          <p:nvPr/>
        </p:nvSpPr>
        <p:spPr>
          <a:xfrm>
            <a:off x="1473200" y="4153343"/>
            <a:ext cx="4578350" cy="271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79C0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"status"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</a:t>
            </a:r>
            <a:r>
              <a:rPr lang="en-US" sz="1272" dirty="0">
                <a:solidFill>
                  <a:srgbClr val="A5D6A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"granted"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</a:t>
            </a:r>
            <a:endParaRPr lang="en-US" sz="1272" dirty="0"/>
          </a:p>
        </p:txBody>
      </p:sp>
      <p:sp>
        <p:nvSpPr>
          <p:cNvPr id="13" name="Text 11"/>
          <p:cNvSpPr/>
          <p:nvPr/>
        </p:nvSpPr>
        <p:spPr>
          <a:xfrm>
            <a:off x="1473200" y="4450460"/>
            <a:ext cx="4578350" cy="27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79C0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"scope"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[</a:t>
            </a:r>
            <a:r>
              <a:rPr lang="en-US" sz="1272" dirty="0">
                <a:solidFill>
                  <a:srgbClr val="A5D6A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"view_medical_record"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272" dirty="0"/>
          </a:p>
        </p:txBody>
      </p:sp>
      <p:sp>
        <p:nvSpPr>
          <p:cNvPr id="14" name="Text 12"/>
          <p:cNvSpPr/>
          <p:nvPr/>
        </p:nvSpPr>
        <p:spPr>
          <a:xfrm>
            <a:off x="1270000" y="4747546"/>
            <a:ext cx="4787646" cy="27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},</a:t>
            </a:r>
            <a:endParaRPr lang="en-US" sz="1272" dirty="0"/>
          </a:p>
        </p:txBody>
      </p:sp>
      <p:sp>
        <p:nvSpPr>
          <p:cNvPr id="15" name="Text 13"/>
          <p:cNvSpPr/>
          <p:nvPr/>
        </p:nvSpPr>
        <p:spPr>
          <a:xfrm>
            <a:off x="1270000" y="5044630"/>
            <a:ext cx="4787646" cy="27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79C0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"purposeOfUse"</a:t>
            </a: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</a:t>
            </a:r>
            <a:r>
              <a:rPr lang="en-US" sz="1272" dirty="0">
                <a:solidFill>
                  <a:srgbClr val="A5D6A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"treatment"</a:t>
            </a:r>
            <a:endParaRPr lang="en-US" sz="1272" dirty="0"/>
          </a:p>
        </p:txBody>
      </p:sp>
      <p:sp>
        <p:nvSpPr>
          <p:cNvPr id="16" name="Text 14"/>
          <p:cNvSpPr/>
          <p:nvPr/>
        </p:nvSpPr>
        <p:spPr>
          <a:xfrm>
            <a:off x="1066800" y="5341714"/>
            <a:ext cx="4996942" cy="27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1"/>
              </a:lnSpc>
              <a:buNone/>
            </a:pPr>
            <a:r>
              <a:rPr lang="en-US" sz="1272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72" dirty="0"/>
          </a:p>
        </p:txBody>
      </p:sp>
      <p:sp>
        <p:nvSpPr>
          <p:cNvPr id="17" name="Shape 15"/>
          <p:cNvSpPr/>
          <p:nvPr/>
        </p:nvSpPr>
        <p:spPr>
          <a:xfrm>
            <a:off x="6553200" y="2282189"/>
            <a:ext cx="0" cy="924560"/>
          </a:xfrm>
          <a:prstGeom prst="line">
            <a:avLst/>
          </a:prstGeom>
          <a:noFill/>
          <a:ln w="50800">
            <a:solidFill>
              <a:srgbClr val="1D6B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1800" y="2282189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Identity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81800" y="2635250"/>
            <a:ext cx="473532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 ID and role, with confirmation of the treating relationship.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53200" y="3511550"/>
            <a:ext cx="0" cy="638810"/>
          </a:xfrm>
          <a:prstGeom prst="line">
            <a:avLst/>
          </a:prstGeom>
          <a:noFill/>
          <a:ln w="50800">
            <a:solidFill>
              <a:srgbClr val="1D6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1800" y="3511550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Context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781800" y="3864609"/>
            <a:ext cx="473532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status and permission scope (read/edit).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53200" y="4455159"/>
            <a:ext cx="0" cy="638810"/>
          </a:xfrm>
          <a:prstGeom prst="line">
            <a:avLst/>
          </a:prstGeom>
          <a:noFill/>
          <a:ln w="50800">
            <a:solidFill>
              <a:srgbClr val="1D6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1800" y="4455159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&amp; Purpose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781800" y="4808220"/>
            <a:ext cx="473532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fields and the purpose of use.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Structure and Project Layout (Clean Architecture)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84912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data and definitions from the main entry point to make maintenance and development easier.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9150" y="2867532"/>
            <a:ext cx="2832100" cy="2565654"/>
          </a:xfrm>
          <a:prstGeom prst="roundRect">
            <a:avLst>
              <a:gd name="adj" fmla="val 5693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3127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D6B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992" y="3736975"/>
            <a:ext cx="2199957" cy="426720"/>
          </a:xfrm>
          <a:prstGeom prst="roundRect">
            <a:avLst>
              <a:gd name="adj" fmla="val 17857"/>
            </a:avLst>
          </a:prstGeom>
          <a:solidFill>
            <a:srgbClr val="0D111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src/auditEvents.js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4316095"/>
            <a:ext cx="2381789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file containing the data definitions and event structure.</a:t>
            </a:r>
            <a:endParaRPr lang="en-US" sz="15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0" y="3972559"/>
            <a:ext cx="711200" cy="355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79950" y="3010407"/>
            <a:ext cx="2832100" cy="2279904"/>
          </a:xfrm>
          <a:prstGeom prst="roundRect">
            <a:avLst>
              <a:gd name="adj" fmla="val 6406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9792" y="3270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D6B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939792" y="3879850"/>
            <a:ext cx="1132999" cy="426720"/>
          </a:xfrm>
          <a:prstGeom prst="roundRect">
            <a:avLst>
              <a:gd name="adj" fmla="val 17857"/>
            </a:avLst>
          </a:prstGeom>
          <a:solidFill>
            <a:srgbClr val="0D111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index.js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9792" y="4458970"/>
            <a:ext cx="238178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export point (Main Entry point).</a:t>
            </a:r>
            <a:endParaRPr lang="en-US" sz="15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70800" y="3972559"/>
            <a:ext cx="711200" cy="355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540750" y="3010407"/>
            <a:ext cx="2832100" cy="2279904"/>
          </a:xfrm>
          <a:prstGeom prst="roundRect">
            <a:avLst>
              <a:gd name="adj" fmla="val 6406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800592" y="3270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D6B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800592" y="3879850"/>
            <a:ext cx="1666494" cy="426720"/>
          </a:xfrm>
          <a:prstGeom prst="roundRect">
            <a:avLst>
              <a:gd name="adj" fmla="val 17857"/>
            </a:avLst>
          </a:prstGeom>
          <a:solidFill>
            <a:srgbClr val="0D111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index.test.js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800592" y="4458970"/>
            <a:ext cx="238178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assertion tests using the Jest library.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 and Verification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913381"/>
            <a:ext cx="6184900" cy="722884"/>
          </a:xfrm>
          <a:prstGeom prst="roundRect">
            <a:avLst>
              <a:gd name="adj" fmla="val 16690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3592" y="2097022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61592" y="2132583"/>
            <a:ext cx="53642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access and update operations.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19150" y="2801364"/>
            <a:ext cx="6184900" cy="936244"/>
          </a:xfrm>
          <a:prstGeom prst="roundRect">
            <a:avLst>
              <a:gd name="adj" fmla="val 12887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7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3592" y="3091687"/>
            <a:ext cx="355600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61592" y="2985008"/>
            <a:ext cx="5364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doctor–patient relationship context and confirming the relationship.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9150" y="3902711"/>
            <a:ext cx="6184900" cy="722884"/>
          </a:xfrm>
          <a:prstGeom prst="roundRect">
            <a:avLst>
              <a:gd name="adj" fmla="val 16690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10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3592" y="4086352"/>
            <a:ext cx="355600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61592" y="4121913"/>
            <a:ext cx="53642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consent status and authorization validity.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19150" y="4790694"/>
            <a:ext cx="6184900" cy="722884"/>
          </a:xfrm>
          <a:prstGeom prst="roundRect">
            <a:avLst>
              <a:gd name="adj" fmla="val 16690"/>
            </a:avLst>
          </a:prstGeom>
          <a:solidFill>
            <a:srgbClr val="FBFCFE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13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53592" y="4974335"/>
            <a:ext cx="355600" cy="355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61592" y="5009896"/>
            <a:ext cx="53642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the consent scope to the operation type.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315200" y="1584961"/>
            <a:ext cx="4064000" cy="4257040"/>
          </a:xfrm>
          <a:prstGeom prst="roundRect">
            <a:avLst>
              <a:gd name="adj" fmla="val 5000"/>
            </a:avLst>
          </a:prstGeom>
          <a:solidFill>
            <a:srgbClr val="0B1B33"/>
          </a:solidFill>
          <a:ln/>
        </p:spPr>
      </p:sp>
      <p:sp>
        <p:nvSpPr>
          <p:cNvPr id="16" name="Text 10"/>
          <p:cNvSpPr/>
          <p:nvPr/>
        </p:nvSpPr>
        <p:spPr>
          <a:xfrm>
            <a:off x="7437094" y="2737486"/>
            <a:ext cx="3820211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100"/>
              </a:lnSpc>
              <a:buNone/>
            </a:pPr>
            <a:r>
              <a:rPr lang="en-US" sz="110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1000" dirty="0"/>
          </a:p>
        </p:txBody>
      </p:sp>
      <p:sp>
        <p:nvSpPr>
          <p:cNvPr id="17" name="Text 11"/>
          <p:cNvSpPr/>
          <p:nvPr/>
        </p:nvSpPr>
        <p:spPr>
          <a:xfrm>
            <a:off x="7506970" y="4375786"/>
            <a:ext cx="3680460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B8C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Passed Successfully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8128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1B33"/>
              </a:gs>
              <a:gs pos="100000">
                <a:srgbClr val="12305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" y="8128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38A4B"/>
          </a:solidFill>
          <a:ln/>
        </p:spPr>
      </p:sp>
      <p:pic>
        <p:nvPicPr>
          <p:cNvPr id="4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965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>
            <p:ph type="title"/>
          </p:nvPr>
        </p:nvSpPr>
        <p:spPr>
          <a:xfrm>
            <a:off x="812800" y="1778000"/>
            <a:ext cx="8557489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Accomplished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12800" y="2707639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B8C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now ready for real integration and aligned with international medical standards, ensuring security and transparency of data use.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2800" y="5140961"/>
            <a:ext cx="10566400" cy="904240"/>
          </a:xfrm>
          <a:prstGeom prst="roundRect">
            <a:avLst>
              <a:gd name="adj" fmla="val 16854"/>
            </a:avLst>
          </a:prstGeom>
          <a:solidFill>
            <a:srgbClr val="1D6BD6"/>
          </a:solidFill>
          <a:ln/>
        </p:spPr>
        <p:txBody>
          <a:bodyPr wrap="square" lIns="110812" tIns="209364" rIns="110812" bIns="183964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– Questions &amp; Answers (Q&amp;A)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dit Logs for Structured Medical Data Access">
  <a:themeElements>
    <a:clrScheme name="Audit Logs for Structured Medical Data Access">
      <a:dk1>
        <a:srgbClr val="0B1B33"/>
      </a:dk1>
      <a:lt1>
        <a:srgbClr val="F3F6FA"/>
      </a:lt1>
      <a:dk2>
        <a:srgbClr val="455265"/>
      </a:dk2>
      <a:lt2>
        <a:srgbClr val="DCE0E6"/>
      </a:lt2>
      <a:accent1>
        <a:srgbClr val="1D6BD6"/>
      </a:accent1>
      <a:accent2>
        <a:srgbClr val="2F80ED"/>
      </a:accent2>
      <a:accent3>
        <a:srgbClr val="12305A"/>
      </a:accent3>
      <a:accent4>
        <a:srgbClr val="138A4B"/>
      </a:accent4>
      <a:accent5>
        <a:srgbClr val="3DDC84"/>
      </a:accent5>
      <a:accent6>
        <a:srgbClr val="3C4A5E"/>
      </a:accent6>
      <a:hlink>
        <a:srgbClr val="0563C1"/>
      </a:hlink>
      <a:folHlink>
        <a:srgbClr val="954F72"/>
      </a:folHlink>
    </a:clrScheme>
    <a:fontScheme name="Audit Logs for Structured Medical Data Acces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Logs for Structured Medical Data Access</dc:title>
  <dc:subject/>
  <dc:creator/>
  <cp:lastModifiedBy/>
  <cp:revision>1</cp:revision>
  <dcterms:created xsi:type="dcterms:W3CDTF">2026-10-12T06:22:25Z</dcterms:created>
  <dcterms:modified xsi:type="dcterms:W3CDTF">2026-10-12T06:22:25Z</dcterms:modified>
</cp:coreProperties>
</file>